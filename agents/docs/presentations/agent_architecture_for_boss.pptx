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029200" cy="5029200"/>
          </a:xfrm>
          <a:prstGeom prst="ellipse">
            <a:avLst/>
          </a:prstGeom>
          <a:solidFill>
            <a:srgbClr val="F96167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031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8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youle_mas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智能体技术架构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822960" y="39319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· Strategic Briefing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526280"/>
            <a:ext cx="109728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84632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维度全栈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291840" y="484632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篇 ADR 治理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760720" y="4846320"/>
            <a:ext cx="2286000" cy="457200"/>
          </a:xfrm>
          <a:prstGeom prst="rect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Benjamin · 2026-05-09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一句话定位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不是单一智能体,是工业级多智能体平台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主编排 </a:t>
            </a:r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 工种 worker </a:t>
            </a:r>
            <a:pPr indent="0" marL="0">
              <a:buNone/>
            </a:pPr>
            <a:r>
              <a:rPr lang="en-US" sz="2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pPr indent="0" marL="0">
              <a:buNone/>
            </a:pPr>
            <a:r>
              <a:rPr lang="en-US" sz="2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9 MCP 工具服务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 9 维度(意图、澄清、HITL、编排、工具、记忆、通信、状态、上下文)production-grade 落地,与 2026 硅谷一线(Manus / Devin / Anthropic Skills)同档骨架。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3931920"/>
            <a:ext cx="35204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4160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技术维度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5715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 → 上下文,全栈覆盖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434840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3931920"/>
            <a:ext cx="35204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4160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4434840" y="5349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 治理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5715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架构决策有据可查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0" y="3931920"/>
            <a:ext cx="35204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229600" y="3931920"/>
            <a:ext cx="3520440" cy="73152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0" y="416052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35+</a:t>
            </a:r>
            <a:endParaRPr lang="en-US" sz="7200" dirty="0"/>
          </a:p>
        </p:txBody>
      </p:sp>
      <p:sp>
        <p:nvSpPr>
          <p:cNvPr id="19" name="Text 17"/>
          <p:cNvSpPr/>
          <p:nvPr/>
        </p:nvSpPr>
        <p:spPr>
          <a:xfrm>
            <a:off x="8229600" y="534924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新增模块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412480" y="57150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单测 case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系统架构总览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分层架构 + 异步消息总线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983480" y="1783080"/>
            <a:ext cx="2194560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4983480" y="17830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 · 前端 (Next.js)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80760" y="2286000"/>
            <a:ext cx="0" cy="36576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23317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188720" y="2697480"/>
            <a:ext cx="978408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88720" y="2697480"/>
            <a:ext cx="54864" cy="10972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2788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· FastAPI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1546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· WS · Result Waiter · 用户态 · DB 镜像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760720" y="2834640"/>
            <a:ext cx="0" cy="86868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2788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主编排 · LangGraph Runner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89320" y="3154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· Critic · HITL · Persona · Time-travel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88720" y="388620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⇣ Redis Streams (agent_tasks:* / agent_results:* / flywheel:*) ⇣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188720" y="429768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88720" y="4297680"/>
            <a:ext cx="2286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12801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agent_1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28016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文字 / 调研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MCP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03320" y="429768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03320" y="4297680"/>
            <a:ext cx="2286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37947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agent_2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79476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文档专员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794760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MCP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17920" y="429768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17920" y="4297680"/>
            <a:ext cx="2286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agent_3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设计师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MCP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8732520" y="4297680"/>
            <a:ext cx="22860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32520" y="4297680"/>
            <a:ext cx="2286000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823960" y="44348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agent_4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823960" y="48006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影音师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823960" y="50292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MCP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188720" y="5486400"/>
            <a:ext cx="9784080" cy="777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1188720" y="5532120"/>
            <a:ext cx="9784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个 MCP 工具服务 (HTTP)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188720" y="58521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· image_tools · video_tools · audio_tools · document_tools · oss · platform_publish · browser_use · code_executor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全栈覆盖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维度能力一览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9164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74904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意图理解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Intent · 7 类 × 6 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intent.py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434840" y="169164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69164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54380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意图澄清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种交互形式 · ≤ 5 轮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clarification.py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8229600" y="169164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229600" y="169164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8458200" y="182880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338560" y="1828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58200" y="2148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458200" y="25328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gate · Time-travel rollback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58200" y="2770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hitl_gate.py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40080" y="320040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20040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74904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6868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任务编排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6868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Planner · 双轨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6868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langgraph_runner/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34840" y="320040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34840" y="320040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466344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54380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66344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工具调用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66344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MCP-first · Retry × Cache × ReAct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66344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react_runner.py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229600" y="320040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8229600" y="320040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1" name="Text 39"/>
          <p:cNvSpPr/>
          <p:nvPr/>
        </p:nvSpPr>
        <p:spPr>
          <a:xfrm>
            <a:off x="8458200" y="33375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338560" y="33375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458200" y="3657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记忆模块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458200" y="4041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工作 / 情景 / 语义 / 程序 4 层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458200" y="42793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skill_registry.py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40080" y="470916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40080" y="470916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8" name="Text 46"/>
          <p:cNvSpPr/>
          <p:nvPr/>
        </p:nvSpPr>
        <p:spPr>
          <a:xfrm>
            <a:off x="868680" y="4846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374904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6868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通信协议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68680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Streams · DLQ · 心跳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86868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consumer.py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434840" y="470916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434840" y="470916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55" name="Text 53"/>
          <p:cNvSpPr/>
          <p:nvPr/>
        </p:nvSpPr>
        <p:spPr>
          <a:xfrm>
            <a:off x="4663440" y="4846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754380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466344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状态管理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4663440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PostgresSaver checkpoint · 镜像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466344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state.py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8229600" y="4709160"/>
            <a:ext cx="352044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6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8229600" y="4709160"/>
            <a:ext cx="73152" cy="1325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62" name="Text 60"/>
          <p:cNvSpPr/>
          <p:nvPr/>
        </p:nvSpPr>
        <p:spPr>
          <a:xfrm>
            <a:off x="8458200" y="48463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1338560" y="4846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8458200" y="5166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上下文窗口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8458200" y="5550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hydrate · ReAct 步数硬上限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458200" y="578815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artifact_body.py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Deep Dive · 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智能化大脑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意图理解 · 意图澄清 · 任务编排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意图理解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Intent(7×6 类)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认知层模型(deepseek-v4-flash)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memory_summary 注入 prompt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解析失败优雅 fallback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意图澄清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70916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种交互形式(选择题为主)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 轮硬上限(铁律 6)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纯程序生成 — 不调 LLM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字段填充 4 级优先级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22960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22960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任务编排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0392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1" name="Text 29"/>
          <p:cNvSpPr/>
          <p:nvPr/>
        </p:nvSpPr>
        <p:spPr>
          <a:xfrm>
            <a:off x="873252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+ PostgresSaver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50392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3" name="Text 31"/>
          <p:cNvSpPr/>
          <p:nvPr/>
        </p:nvSpPr>
        <p:spPr>
          <a:xfrm>
            <a:off x="873252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Agent(动态规划)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50392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873252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Loop(自动评审)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Persona × 8(researcher/critic 等)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4983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732520" y="4892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rollback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关键创新:Plan 是数据,不是代码 — Planner 动态产出 JSON,引擎照单执行(2026 硅谷一线 Manus / Devin 范式)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Deep Dive · 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执行与协作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工具调用 · Human in the Loop · 通信协议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工具调用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1440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个独立 MCP HTTP 服务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× 3 指数退避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缓存(server-specific TTL)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loop · 步数上限 10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983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4892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永不抛 · 失败优雅降级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3484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43484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 in the Loop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种 gate 类型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 event_opened / closed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0916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interrupt() + Command(resume)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Time-travel:rollback_to_step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09160" y="4983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4892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 A 与 backend 严格对齐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229600" y="2148840"/>
            <a:ext cx="35204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229600" y="2148840"/>
            <a:ext cx="35204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31"/>
          <p:cNvSpPr/>
          <p:nvPr/>
        </p:nvSpPr>
        <p:spPr>
          <a:xfrm>
            <a:off x="8458200" y="21945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通信协议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503920" y="297180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5" name="Text 33"/>
          <p:cNvSpPr/>
          <p:nvPr/>
        </p:nvSpPr>
        <p:spPr>
          <a:xfrm>
            <a:off x="8732520" y="288036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AgentTask / AgentResult Pydantic v2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503920" y="347472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7" name="Text 35"/>
          <p:cNvSpPr/>
          <p:nvPr/>
        </p:nvSpPr>
        <p:spPr>
          <a:xfrm>
            <a:off x="8732520" y="33832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条 Redis Stream 通道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503920" y="397764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7"/>
          <p:cNvSpPr/>
          <p:nvPr/>
        </p:nvSpPr>
        <p:spPr>
          <a:xfrm>
            <a:off x="8732520" y="38862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MAXLEN 防御(50/500/2000)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8503920" y="448056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1" name="Text 39"/>
          <p:cNvSpPr/>
          <p:nvPr/>
        </p:nvSpPr>
        <p:spPr>
          <a:xfrm>
            <a:off x="8732520" y="4389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重试 / DLQ / 心跳 / 幂等去重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503920" y="4983480"/>
            <a:ext cx="109728" cy="109728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8732520" y="48920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 trace_id 透传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关键创新:沙箱化代码执行(ADR-025 e2b/Firecracker)+ 浏览器自动化 — 通用执行能力对标 Manus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Deep Dive · III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记忆与韧性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记忆模块 · 状态管理 · 上下文窗口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1206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48840"/>
            <a:ext cx="5120640" cy="5486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1945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层记忆架构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92608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8895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工作记忆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3218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 TaskState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120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68680" y="370332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66674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情景记忆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371600" y="39959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Qdrant workflow_traces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1208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371600" y="444398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语义记忆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71600" y="4773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Redis flywheel:prefs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12080" y="4480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68680" y="5257800"/>
            <a:ext cx="365760" cy="36576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371600" y="522122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程序记忆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371600" y="55504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Skill Registry · MD/YAML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12080" y="5257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✓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5989320" y="214884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89320" y="2148840"/>
            <a:ext cx="55321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Text 28"/>
          <p:cNvSpPr/>
          <p:nvPr/>
        </p:nvSpPr>
        <p:spPr>
          <a:xfrm>
            <a:off x="6217920" y="21945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状态管理(LangGraph)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263640" y="278892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644652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AsyncPostgresSaver checkpoint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08152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6446520" y="2990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并发更新 reducer 合并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337413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6446520" y="32826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镜像 → backend DB(task_steps)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66674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8" name="Text 36"/>
          <p:cNvSpPr/>
          <p:nvPr/>
        </p:nvSpPr>
        <p:spPr>
          <a:xfrm>
            <a:off x="6446520" y="35753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Time-travel · 历史查询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89320" y="4251960"/>
            <a:ext cx="553212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989320" y="4251960"/>
            <a:ext cx="553212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1" name="Text 39"/>
          <p:cNvSpPr/>
          <p:nvPr/>
        </p:nvSpPr>
        <p:spPr>
          <a:xfrm>
            <a:off x="6217920" y="42976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上下文窗口(多重硬上限)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263640" y="4892040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3" name="Text 41"/>
          <p:cNvSpPr/>
          <p:nvPr/>
        </p:nvSpPr>
        <p:spPr>
          <a:xfrm>
            <a:off x="6446520" y="4800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 hydrate ≤ 384 KB / 单产物 256 KB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263640" y="5184648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5" name="Text 43"/>
          <p:cNvSpPr/>
          <p:nvPr/>
        </p:nvSpPr>
        <p:spPr>
          <a:xfrm>
            <a:off x="6446520" y="5093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步数 ≤ 10 · 工具响应 ≤ 48K 字符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263640" y="5477256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7" name="Text 45"/>
          <p:cNvSpPr/>
          <p:nvPr/>
        </p:nvSpPr>
        <p:spPr>
          <a:xfrm>
            <a:off x="6446520" y="53858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clip 32K · skill body ≤ 256 KB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63640" y="5769864"/>
            <a:ext cx="91440" cy="914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9" name="Text 47"/>
          <p:cNvSpPr/>
          <p:nvPr/>
        </p:nvSpPr>
        <p:spPr>
          <a:xfrm>
            <a:off x="6446520" y="56784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流式 chunks 走 Redis(不进 state)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关键设计:产物用 OSS 引用(铁律 4)— state 始终轻量,可序列化,checkpoint 可回放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战略对标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 2026 硅谷一线同档骨架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108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能力 / 维度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749040" y="1874520"/>
            <a:ext cx="2011680" cy="5029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374904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youle_mas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60720" y="187452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76072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Anthropic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0" y="187452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784080" y="1874520"/>
            <a:ext cx="201168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9784080" y="18745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Devin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37744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774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多智能体编排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749040" y="23774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LangGraph 双轨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23774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5216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tool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0" y="23774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6384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Planner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84080" y="237744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75520" y="23774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闭源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278892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27889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动态 Plan(非 YAML)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749040" y="278892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ADR-019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760720" y="278892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521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+ Task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772400" y="278892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主路径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784080" y="278892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87552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主路径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40080" y="320040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Skills 知识包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49040" y="32004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84048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一等公民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32004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5216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原生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772400" y="32004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86384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9784080" y="320040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875520" y="3200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" y="361188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36118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沙箱执行运行时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749040" y="361188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84048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ADR-025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5760720" y="361188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85216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Use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0" y="361188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6384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杀手锏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9784080" y="361188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75520" y="36118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闭源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640080" y="402336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31520" y="4023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 自动评审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749040" y="40233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84048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ADR-020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5760720" y="40233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85216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772400" y="40233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86384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9784080" y="402336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75520" y="40233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0080" y="443484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31520" y="44348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Persona 矩阵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749040" y="443484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84048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ADR-021 × 8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760720" y="443484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7772400" y="443484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86384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9784080" y="443484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875520" y="44348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40080" y="4846320"/>
            <a:ext cx="31089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31520" y="48463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飞轮闭环(读+写)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3749040" y="4846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384048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ADR-023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5760720" y="4846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85216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772400" y="4846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86384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82" name="Shape 80"/>
          <p:cNvSpPr/>
          <p:nvPr/>
        </p:nvSpPr>
        <p:spPr>
          <a:xfrm>
            <a:off x="9784080" y="4846320"/>
            <a:ext cx="201168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9875520" y="4846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640080" y="5257800"/>
            <a:ext cx="310896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" y="5257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3749040" y="525780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0" y="5257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9 ADR 治理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5760720" y="525780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852160" y="5257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0" name="Shape 88"/>
          <p:cNvSpPr/>
          <p:nvPr/>
        </p:nvSpPr>
        <p:spPr>
          <a:xfrm>
            <a:off x="7772400" y="525780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863840" y="5257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2" name="Shape 90"/>
          <p:cNvSpPr/>
          <p:nvPr/>
        </p:nvSpPr>
        <p:spPr>
          <a:xfrm>
            <a:off x="9784080" y="5257800"/>
            <a:ext cx="2011680" cy="411480"/>
          </a:xfrm>
          <a:prstGeom prst="rect">
            <a:avLst/>
          </a:prstGeom>
          <a:solidFill>
            <a:srgbClr val="F8FAFC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875520" y="52578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4" name="Text 92"/>
          <p:cNvSpPr/>
          <p:nvPr/>
        </p:nvSpPr>
        <p:spPr>
          <a:xfrm>
            <a:off x="640080" y="63550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结论:8 项核心能力中,我们 8 项 ✓ — 与 Anthropic / Manus / Devin 同档,部分维度更完整(Critic / Persona / 飞轮)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架构决策有据可查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篇 ADR 治理记录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agents/docs/ADR-019..027 — 每一项重大设计决策都有书面 trace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019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9164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Agent 与动态规划路径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69164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210312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43484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434840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020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8640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 Loop · 创作自动评审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质量保障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229600" y="210312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0" y="2267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0" y="24871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021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281160" y="22860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Persona 正交于 Worker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281160" y="28163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智能化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33832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38328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022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169164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 Skills + Episode 召回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69164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记忆 / 知识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33832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434840" y="338328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443484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43484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023</a:t>
            </a:r>
            <a:endParaRPr lang="en-US" sz="3200" dirty="0"/>
          </a:p>
        </p:txBody>
      </p:sp>
      <p:sp>
        <p:nvSpPr>
          <p:cNvPr id="33" name="Text 31"/>
          <p:cNvSpPr/>
          <p:nvPr/>
        </p:nvSpPr>
        <p:spPr>
          <a:xfrm>
            <a:off x="548640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 → Reflexion 飞轮桥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飞轮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338328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338328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35478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229600" y="37673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024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9281160" y="356616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集成路径(Planner / 飞轮闭环)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281160" y="40965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对接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40080" y="466344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" y="466344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64008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0080" y="5047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025</a:t>
            </a:r>
            <a:endParaRPr lang="en-US" sz="3200" dirty="0"/>
          </a:p>
        </p:txBody>
      </p:sp>
      <p:sp>
        <p:nvSpPr>
          <p:cNvPr id="45" name="Text 43"/>
          <p:cNvSpPr/>
          <p:nvPr/>
        </p:nvSpPr>
        <p:spPr>
          <a:xfrm>
            <a:off x="169164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Sandbox Task Runtime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69164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安全 / 隔离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434840" y="466344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434840" y="466344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9" name="Text 47"/>
          <p:cNvSpPr/>
          <p:nvPr/>
        </p:nvSpPr>
        <p:spPr>
          <a:xfrm>
            <a:off x="443484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434840" y="5047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026</a:t>
            </a:r>
            <a:endParaRPr lang="en-US" sz="3200" dirty="0"/>
          </a:p>
        </p:txBody>
      </p:sp>
      <p:sp>
        <p:nvSpPr>
          <p:cNvPr id="51" name="Text 49"/>
          <p:cNvSpPr/>
          <p:nvPr/>
        </p:nvSpPr>
        <p:spPr>
          <a:xfrm>
            <a:off x="548640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browser_use + code_executor MCP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48640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执行能力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8229600" y="4663440"/>
            <a:ext cx="3520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229600" y="4663440"/>
            <a:ext cx="9144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0" y="48280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229600" y="504748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027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9281160" y="48463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 评测体系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9281160" y="5376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可观测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当前态势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已落地 + 准备就绪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783080"/>
            <a:ext cx="73152" cy="4160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代码 · 已合并 dev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60120" y="274320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维度全栈骨架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60120" y="338328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30+ 新增模块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60120" y="402336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2" name="Text 10"/>
          <p:cNvSpPr/>
          <p:nvPr/>
        </p:nvSpPr>
        <p:spPr>
          <a:xfrm>
            <a:off x="1188720" y="3886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单元测试 case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4663440"/>
            <a:ext cx="128016" cy="128016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 .gitignore 防泄漏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34840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434840" y="1783080"/>
            <a:ext cx="73152" cy="4160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 文档 · production-ready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274320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篇 ADR 治理记录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338328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对后端对接套件(SQL / YAML / 代码)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402336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4983480" y="3886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对前端对接套件(.d.ts / 时序示例)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4663440"/>
            <a:ext cx="128016" cy="128016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5" name="Text 23"/>
          <p:cNvSpPr/>
          <p:nvPr/>
        </p:nvSpPr>
        <p:spPr>
          <a:xfrm>
            <a:off x="498348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K8s + Docker Compose 完整 spec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1783080"/>
            <a:ext cx="352044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6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229600" y="1783080"/>
            <a:ext cx="73152" cy="41605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🔧 上线时按需开 flag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549640" y="274320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0" name="Text 28"/>
          <p:cNvSpPr/>
          <p:nvPr/>
        </p:nvSpPr>
        <p:spPr>
          <a:xfrm>
            <a:off x="8778240" y="26060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ENABLE_DYNAMIC_PLAN(Planner)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49640" y="338328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2" name="Text 30"/>
          <p:cNvSpPr/>
          <p:nvPr/>
        </p:nvSpPr>
        <p:spPr>
          <a:xfrm>
            <a:off x="8778240" y="324612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ENABLE_CRITIC_LOOP(评审)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49640" y="402336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4" name="Text 32"/>
          <p:cNvSpPr/>
          <p:nvPr/>
        </p:nvSpPr>
        <p:spPr>
          <a:xfrm>
            <a:off x="8778240" y="38862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ENABLE_EPISODE_RETRIEVAL(Qdrant)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49640" y="4663440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6" name="Text 34"/>
          <p:cNvSpPr/>
          <p:nvPr/>
        </p:nvSpPr>
        <p:spPr>
          <a:xfrm>
            <a:off x="8778240" y="45262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SANDBOX_PROVIDER=e2b(production 必选)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" y="608076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已推到 GitHub:dev branch  ·  老 dev 备份保留:dev-backup-20260509  ·  main 不动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路线图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周升级方案 · 已完成 ~70%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9144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202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1874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智能化骨架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0" y="182880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 / dynamic_compiler / subagent / 双层模型路由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921240" y="182880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9748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697480"/>
            <a:ext cx="9144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7889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5087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飞轮闭环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08760" y="30906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931920" y="26974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召回 / Critic Loop / Reflexion 桥 / Skill registry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921240" y="269748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356616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3566160"/>
            <a:ext cx="91440" cy="71323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365760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508760" y="3611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通用执行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08760" y="39593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931920" y="356616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browser_use / code_executor / Step Persona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921240" y="356616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完成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43484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4434840"/>
            <a:ext cx="9144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868680" y="452628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150876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沙箱与长任务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508760" y="48280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4w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443484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抽象已落,长任务暂停/恢复留 follow-up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921240" y="443484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50%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5303520"/>
            <a:ext cx="109728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0080" y="5303520"/>
            <a:ext cx="91440" cy="71323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868680" y="539496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1508760" y="53492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生态与评测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508760" y="56967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3w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931920" y="530352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 Skill ✓ / Eval ✓ · adaptive router 留 follow-up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921240" y="5303520"/>
            <a:ext cx="1554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60%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40080" y="62636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整体完成度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0" y="6309360"/>
            <a:ext cx="7772400" cy="18288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1" name="Shape 39"/>
          <p:cNvSpPr/>
          <p:nvPr/>
        </p:nvSpPr>
        <p:spPr>
          <a:xfrm>
            <a:off x="2286000" y="6309360"/>
            <a:ext cx="5440680" cy="1828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42" name="Text 40"/>
          <p:cNvSpPr/>
          <p:nvPr/>
        </p:nvSpPr>
        <p:spPr>
          <a:xfrm>
            <a:off x="10149840" y="6263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solidFill>
            <a:srgbClr val="F96167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657600"/>
            <a:ext cx="4572000" cy="4572000"/>
          </a:xfrm>
          <a:prstGeom prst="ellipse">
            <a:avLst/>
          </a:prstGeom>
          <a:solidFill>
            <a:srgbClr val="1E2761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总结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0515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一句话:可推、可看、可验证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46888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91640" y="2423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对标硅谷一线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8346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项核心能力 ✓ · 部分维度(Critic / Persona / 飞轮)更完整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47472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91640" y="34290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Production-ready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3840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ADR 治理 · 完整对接套件 · 多重 production guard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48056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4805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91640" y="44348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已推到 GitHub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91640" y="48463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= 9c1b649 · 老 dev 完整备份在 dev-backup-20260509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669280"/>
            <a:ext cx="1371600" cy="457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7607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&amp; 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youle_mas 智能体技术架构</dc:title>
  <dc:subject>PptxGenJS Presentation</dc:subject>
  <dc:creator>Benjamin</dc:creator>
  <cp:lastModifiedBy>Benjamin</cp:lastModifiedBy>
  <cp:revision>1</cp:revision>
  <dcterms:created xsi:type="dcterms:W3CDTF">2026-05-09T06:45:23Z</dcterms:created>
  <dcterms:modified xsi:type="dcterms:W3CDTF">2026-05-09T06:45:23Z</dcterms:modified>
</cp:coreProperties>
</file>